
<file path=[Content_Types].xml><?xml version="1.0" encoding="utf-8"?>
<Types xmlns="http://schemas.openxmlformats.org/package/2006/content-types">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Lst>
  <p:sldSz cy="6858000" cx="12192000"/>
  <p:notesSz cx="6858000" cy="9144000"/>
  <p:embeddedFontLst>
    <p:embeddedFont>
      <p:font typeface="Play"/>
      <p:regular r:id="rId14"/>
      <p:bold r:id="rId1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font" Target="fonts/Play-bold.fntdata"/><Relationship Id="rId14" Type="http://schemas.openxmlformats.org/officeDocument/2006/relationships/font" Target="fonts/Play-regular.fnt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4" name="Google Shape;14;p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 name="Shape 17"/>
        <p:cNvGrpSpPr/>
        <p:nvPr/>
      </p:nvGrpSpPr>
      <p:grpSpPr>
        <a:xfrm>
          <a:off x="0" y="0"/>
          <a:ext cx="0" cy="0"/>
          <a:chOff x="0" y="0"/>
          <a:chExt cx="0" cy="0"/>
        </a:xfrm>
      </p:grpSpPr>
      <p:sp>
        <p:nvSpPr>
          <p:cNvPr id="18" name="Google Shape;18;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 name="Google Shape;20;p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3" name="Shape 23"/>
        <p:cNvGrpSpPr/>
        <p:nvPr/>
      </p:nvGrpSpPr>
      <p:grpSpPr>
        <a:xfrm>
          <a:off x="0" y="0"/>
          <a:ext cx="0" cy="0"/>
          <a:chOff x="0" y="0"/>
          <a:chExt cx="0" cy="0"/>
        </a:xfrm>
      </p:grpSpPr>
      <p:sp>
        <p:nvSpPr>
          <p:cNvPr id="24" name="Google Shape;24;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26" name="Google Shape;26;p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9" name="Shape 29"/>
        <p:cNvGrpSpPr/>
        <p:nvPr/>
      </p:nvGrpSpPr>
      <p:grpSpPr>
        <a:xfrm>
          <a:off x="0" y="0"/>
          <a:ext cx="0" cy="0"/>
          <a:chOff x="0" y="0"/>
          <a:chExt cx="0" cy="0"/>
        </a:xfrm>
      </p:grpSpPr>
      <p:sp>
        <p:nvSpPr>
          <p:cNvPr id="30" name="Google Shape;30;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3" name="Google Shape;33;p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6" name="Shape 36"/>
        <p:cNvGrpSpPr/>
        <p:nvPr/>
      </p:nvGrpSpPr>
      <p:grpSpPr>
        <a:xfrm>
          <a:off x="0" y="0"/>
          <a:ext cx="0" cy="0"/>
          <a:chOff x="0" y="0"/>
          <a:chExt cx="0" cy="0"/>
        </a:xfrm>
      </p:grpSpPr>
      <p:sp>
        <p:nvSpPr>
          <p:cNvPr id="37" name="Google Shape;37;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9" name="Google Shape;39;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1" name="Google Shape;41;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7" name="Google Shape;57;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8" name="Google Shape;58;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5183188" y="987425"/>
            <a:ext cx="6172200" cy="4873625"/>
          </a:xfrm>
          <a:prstGeom prst="rect">
            <a:avLst/>
          </a:prstGeom>
          <a:noFill/>
          <a:ln>
            <a:noFill/>
          </a:ln>
        </p:spPr>
      </p:sp>
      <p:sp>
        <p:nvSpPr>
          <p:cNvPr id="64" name="Google Shape;64;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5" name="Google Shape;65;p1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1" name="Google Shape;71;p1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HK"/>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7" name="Google Shape;77;p1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HK"/>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 name="Google Shape;8;p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9" name="Google Shape;9;p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 name="Google Shape;10;p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Arial"/>
                <a:ea typeface="Arial"/>
                <a:cs typeface="Arial"/>
                <a:sym typeface="Arial"/>
              </a:defRPr>
            </a:lvl1pPr>
            <a:lvl2pPr indent="0" lvl="1" marL="0" marR="0" rtl="0" algn="r">
              <a:spcBef>
                <a:spcPts val="0"/>
              </a:spcBef>
              <a:buNone/>
              <a:defRPr b="0" i="0" sz="1200" u="none" cap="none" strike="noStrike">
                <a:solidFill>
                  <a:srgbClr val="757575"/>
                </a:solidFill>
                <a:latin typeface="Arial"/>
                <a:ea typeface="Arial"/>
                <a:cs typeface="Arial"/>
                <a:sym typeface="Arial"/>
              </a:defRPr>
            </a:lvl2pPr>
            <a:lvl3pPr indent="0" lvl="2" marL="0" marR="0" rtl="0" algn="r">
              <a:spcBef>
                <a:spcPts val="0"/>
              </a:spcBef>
              <a:buNone/>
              <a:defRPr b="0" i="0" sz="1200" u="none" cap="none" strike="noStrike">
                <a:solidFill>
                  <a:srgbClr val="757575"/>
                </a:solidFill>
                <a:latin typeface="Arial"/>
                <a:ea typeface="Arial"/>
                <a:cs typeface="Arial"/>
                <a:sym typeface="Arial"/>
              </a:defRPr>
            </a:lvl3pPr>
            <a:lvl4pPr indent="0" lvl="3" marL="0" marR="0" rtl="0" algn="r">
              <a:spcBef>
                <a:spcPts val="0"/>
              </a:spcBef>
              <a:buNone/>
              <a:defRPr b="0" i="0" sz="1200" u="none" cap="none" strike="noStrike">
                <a:solidFill>
                  <a:srgbClr val="757575"/>
                </a:solidFill>
                <a:latin typeface="Arial"/>
                <a:ea typeface="Arial"/>
                <a:cs typeface="Arial"/>
                <a:sym typeface="Arial"/>
              </a:defRPr>
            </a:lvl4pPr>
            <a:lvl5pPr indent="0" lvl="4" marL="0" marR="0" rtl="0" algn="r">
              <a:spcBef>
                <a:spcPts val="0"/>
              </a:spcBef>
              <a:buNone/>
              <a:defRPr b="0" i="0" sz="1200" u="none" cap="none" strike="noStrike">
                <a:solidFill>
                  <a:srgbClr val="757575"/>
                </a:solidFill>
                <a:latin typeface="Arial"/>
                <a:ea typeface="Arial"/>
                <a:cs typeface="Arial"/>
                <a:sym typeface="Arial"/>
              </a:defRPr>
            </a:lvl5pPr>
            <a:lvl6pPr indent="0" lvl="5" marL="0" marR="0" rtl="0" algn="r">
              <a:spcBef>
                <a:spcPts val="0"/>
              </a:spcBef>
              <a:buNone/>
              <a:defRPr b="0" i="0" sz="1200" u="none" cap="none" strike="noStrike">
                <a:solidFill>
                  <a:srgbClr val="757575"/>
                </a:solidFill>
                <a:latin typeface="Arial"/>
                <a:ea typeface="Arial"/>
                <a:cs typeface="Arial"/>
                <a:sym typeface="Arial"/>
              </a:defRPr>
            </a:lvl6pPr>
            <a:lvl7pPr indent="0" lvl="6" marL="0" marR="0" rtl="0" algn="r">
              <a:spcBef>
                <a:spcPts val="0"/>
              </a:spcBef>
              <a:buNone/>
              <a:defRPr b="0" i="0" sz="1200" u="none" cap="none" strike="noStrike">
                <a:solidFill>
                  <a:srgbClr val="757575"/>
                </a:solidFill>
                <a:latin typeface="Arial"/>
                <a:ea typeface="Arial"/>
                <a:cs typeface="Arial"/>
                <a:sym typeface="Arial"/>
              </a:defRPr>
            </a:lvl7pPr>
            <a:lvl8pPr indent="0" lvl="7" marL="0" marR="0" rtl="0" algn="r">
              <a:spcBef>
                <a:spcPts val="0"/>
              </a:spcBef>
              <a:buNone/>
              <a:defRPr b="0" i="0" sz="1200" u="none" cap="none" strike="noStrike">
                <a:solidFill>
                  <a:srgbClr val="757575"/>
                </a:solidFill>
                <a:latin typeface="Arial"/>
                <a:ea typeface="Arial"/>
                <a:cs typeface="Arial"/>
                <a:sym typeface="Arial"/>
              </a:defRPr>
            </a:lvl8pPr>
            <a:lvl9pPr indent="0" lvl="8" marL="0" marR="0" rtl="0" algn="r">
              <a:spcBef>
                <a:spcPts val="0"/>
              </a:spcBef>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HK"/>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3"/>
          <p:cNvSpPr txBox="1"/>
          <p:nvPr>
            <p:ph type="ctrTitle"/>
          </p:nvPr>
        </p:nvSpPr>
        <p:spPr>
          <a:xfrm>
            <a:off x="3100050" y="2570100"/>
            <a:ext cx="5991900" cy="858900"/>
          </a:xfrm>
          <a:prstGeom prst="rect">
            <a:avLst/>
          </a:prstGeom>
          <a:noFill/>
          <a:ln>
            <a:noFill/>
          </a:ln>
        </p:spPr>
        <p:txBody>
          <a:bodyPr anchorCtr="0" anchor="b" bIns="42150" lIns="84350" spcFirstLastPara="1" rIns="84350" wrap="square" tIns="42150">
            <a:normAutofit/>
          </a:bodyPr>
          <a:lstStyle/>
          <a:p>
            <a:pPr indent="0" lvl="0" marL="0" rtl="0" algn="ctr">
              <a:lnSpc>
                <a:spcPct val="90000"/>
              </a:lnSpc>
              <a:spcBef>
                <a:spcPts val="0"/>
              </a:spcBef>
              <a:spcAft>
                <a:spcPts val="0"/>
              </a:spcAft>
              <a:buClr>
                <a:schemeClr val="dk1"/>
              </a:buClr>
              <a:buSzPts val="5535"/>
              <a:buFont typeface="Play"/>
              <a:buNone/>
            </a:pPr>
            <a:r>
              <a:rPr lang="en-HK" sz="5535"/>
              <a:t>My </a:t>
            </a:r>
            <a:r>
              <a:rPr lang="en-HK" sz="5535"/>
              <a:t>SBA Report</a:t>
            </a:r>
            <a:endParaRPr sz="5535"/>
          </a:p>
        </p:txBody>
      </p:sp>
      <p:sp>
        <p:nvSpPr>
          <p:cNvPr id="85" name="Google Shape;85;p13"/>
          <p:cNvSpPr txBox="1"/>
          <p:nvPr>
            <p:ph idx="1" type="subTitle"/>
          </p:nvPr>
        </p:nvSpPr>
        <p:spPr>
          <a:xfrm>
            <a:off x="3665700" y="3429006"/>
            <a:ext cx="4860600" cy="858900"/>
          </a:xfrm>
          <a:prstGeom prst="rect">
            <a:avLst/>
          </a:prstGeom>
          <a:noFill/>
          <a:ln>
            <a:noFill/>
          </a:ln>
        </p:spPr>
        <p:txBody>
          <a:bodyPr anchorCtr="0" anchor="b" bIns="42150" lIns="84350" spcFirstLastPara="1" rIns="84350" wrap="square" tIns="42150">
            <a:normAutofit/>
          </a:bodyPr>
          <a:lstStyle/>
          <a:p>
            <a:pPr indent="0" lvl="0" marL="0" rtl="0" algn="ctr">
              <a:lnSpc>
                <a:spcPct val="90000"/>
              </a:lnSpc>
              <a:spcBef>
                <a:spcPts val="0"/>
              </a:spcBef>
              <a:spcAft>
                <a:spcPts val="0"/>
              </a:spcAft>
              <a:buClr>
                <a:schemeClr val="dk1"/>
              </a:buClr>
              <a:buSzPts val="2214"/>
              <a:buNone/>
            </a:pPr>
            <a:r>
              <a:rPr lang="en-HK" sz="2214"/>
              <a:t>English Learning Platform</a:t>
            </a:r>
            <a:endParaRPr sz="2214"/>
          </a:p>
          <a:p>
            <a:pPr indent="0" lvl="0" marL="0" rtl="0" algn="ctr">
              <a:lnSpc>
                <a:spcPct val="90000"/>
              </a:lnSpc>
              <a:spcBef>
                <a:spcPts val="923"/>
              </a:spcBef>
              <a:spcAft>
                <a:spcPts val="0"/>
              </a:spcAft>
              <a:buClr>
                <a:schemeClr val="dk1"/>
              </a:buClr>
              <a:buSzPts val="2214"/>
              <a:buNone/>
            </a:pPr>
            <a:r>
              <a:rPr lang="en-HK" sz="2214"/>
              <a:t>6xxx Tong Chi Ching Isaac</a:t>
            </a:r>
            <a:endParaRPr sz="2214"/>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4"/>
          <p:cNvSpPr txBox="1"/>
          <p:nvPr>
            <p:ph type="title"/>
          </p:nvPr>
        </p:nvSpPr>
        <p:spPr>
          <a:xfrm>
            <a:off x="0" y="794100"/>
            <a:ext cx="12192000" cy="6063900"/>
          </a:xfrm>
          <a:prstGeom prst="rect">
            <a:avLst/>
          </a:prstGeom>
          <a:noFill/>
          <a:ln>
            <a:noFill/>
          </a:ln>
        </p:spPr>
        <p:txBody>
          <a:bodyPr anchorCtr="0" anchor="ctr" bIns="45700" lIns="91425" spcFirstLastPara="1" rIns="91425" wrap="square" tIns="45700">
            <a:normAutofit/>
          </a:bodyPr>
          <a:lstStyle/>
          <a:p>
            <a:pPr indent="-406400" lvl="0" marL="914400" rtl="0" algn="l">
              <a:lnSpc>
                <a:spcPct val="100000"/>
              </a:lnSpc>
              <a:spcBef>
                <a:spcPts val="0"/>
              </a:spcBef>
              <a:spcAft>
                <a:spcPts val="0"/>
              </a:spcAft>
              <a:buSzPts val="2800"/>
              <a:buFont typeface="Arial"/>
              <a:buChar char="●"/>
            </a:pPr>
            <a:r>
              <a:rPr lang="en-HK" sz="2800">
                <a:latin typeface="Arial"/>
                <a:ea typeface="Arial"/>
                <a:cs typeface="Arial"/>
                <a:sym typeface="Arial"/>
              </a:rPr>
              <a:t>The design phase involved creating a comprehensive blueprint for the English learning platform, focusing on user interface, system architecture, and core functionalities.Thus I focus on a very user friendly interface for the user to use.</a:t>
            </a:r>
            <a:endParaRPr sz="2800">
              <a:latin typeface="Arial"/>
              <a:ea typeface="Arial"/>
              <a:cs typeface="Arial"/>
              <a:sym typeface="Arial"/>
            </a:endParaRPr>
          </a:p>
          <a:p>
            <a:pPr indent="0" lvl="0" marL="0" rtl="0" algn="l">
              <a:lnSpc>
                <a:spcPct val="100000"/>
              </a:lnSpc>
              <a:spcBef>
                <a:spcPts val="0"/>
              </a:spcBef>
              <a:spcAft>
                <a:spcPts val="0"/>
              </a:spcAft>
              <a:buNone/>
            </a:pPr>
            <a:r>
              <a:t/>
            </a:r>
            <a:endParaRPr sz="2800">
              <a:latin typeface="Arial"/>
              <a:ea typeface="Arial"/>
              <a:cs typeface="Arial"/>
              <a:sym typeface="Arial"/>
            </a:endParaRPr>
          </a:p>
          <a:p>
            <a:pPr indent="-406400" lvl="0" marL="914400" rtl="0" algn="l">
              <a:lnSpc>
                <a:spcPct val="100000"/>
              </a:lnSpc>
              <a:spcBef>
                <a:spcPts val="0"/>
              </a:spcBef>
              <a:spcAft>
                <a:spcPts val="0"/>
              </a:spcAft>
              <a:buSzPts val="2800"/>
              <a:buFont typeface="Arial"/>
              <a:buChar char="●"/>
            </a:pPr>
            <a:r>
              <a:rPr lang="en-HK" sz="2800">
                <a:latin typeface="Arial"/>
                <a:ea typeface="Arial"/>
                <a:cs typeface="Arial"/>
                <a:sym typeface="Arial"/>
              </a:rPr>
              <a:t>During the implementation phase, the design was translated into a functional system through coding and software development. This included developing the frontend interface, setting up backend servers, integrating databases, and ensuring smooth operation across different devices. Rigorous testing was conducted throughout the implementation process to identify and resolve any issues, resulting in a robust and user-friendly learning platform that meets the specified requirements.</a:t>
            </a:r>
            <a:endParaRPr sz="2800">
              <a:latin typeface="Arial"/>
              <a:ea typeface="Arial"/>
              <a:cs typeface="Arial"/>
              <a:sym typeface="Arial"/>
            </a:endParaRPr>
          </a:p>
        </p:txBody>
      </p:sp>
      <p:sp>
        <p:nvSpPr>
          <p:cNvPr id="91" name="Google Shape;91;p14"/>
          <p:cNvSpPr txBox="1"/>
          <p:nvPr/>
        </p:nvSpPr>
        <p:spPr>
          <a:xfrm>
            <a:off x="0" y="0"/>
            <a:ext cx="11645400" cy="794100"/>
          </a:xfrm>
          <a:prstGeom prst="rect">
            <a:avLst/>
          </a:prstGeom>
          <a:noFill/>
          <a:ln>
            <a:noFill/>
          </a:ln>
        </p:spPr>
        <p:txBody>
          <a:bodyPr anchorCtr="0" anchor="t" bIns="91425" lIns="91425" spcFirstLastPara="1" rIns="91425" wrap="square" tIns="91425">
            <a:spAutoFit/>
          </a:bodyPr>
          <a:lstStyle/>
          <a:p>
            <a:pPr indent="-508000" lvl="0" marL="457200" rtl="0" algn="l">
              <a:lnSpc>
                <a:spcPct val="90000"/>
              </a:lnSpc>
              <a:spcBef>
                <a:spcPts val="0"/>
              </a:spcBef>
              <a:spcAft>
                <a:spcPts val="0"/>
              </a:spcAft>
              <a:buClr>
                <a:schemeClr val="dk1"/>
              </a:buClr>
              <a:buSzPts val="4400"/>
              <a:buFont typeface="Play"/>
              <a:buChar char="●"/>
            </a:pPr>
            <a:r>
              <a:rPr lang="en-HK" sz="4400">
                <a:solidFill>
                  <a:schemeClr val="dk1"/>
                </a:solidFill>
                <a:latin typeface="Play"/>
                <a:ea typeface="Play"/>
                <a:cs typeface="Play"/>
                <a:sym typeface="Play"/>
              </a:rPr>
              <a:t>Design and Implementation:</a:t>
            </a:r>
            <a:endParaRPr sz="28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5"/>
          <p:cNvSpPr txBox="1"/>
          <p:nvPr>
            <p:ph type="title"/>
          </p:nvPr>
        </p:nvSpPr>
        <p:spPr>
          <a:xfrm>
            <a:off x="0" y="0"/>
            <a:ext cx="12192000" cy="753600"/>
          </a:xfrm>
          <a:prstGeom prst="rect">
            <a:avLst/>
          </a:prstGeom>
          <a:noFill/>
          <a:ln>
            <a:noFill/>
          </a:ln>
        </p:spPr>
        <p:txBody>
          <a:bodyPr anchorCtr="0" anchor="ctr" bIns="45700" lIns="91425" spcFirstLastPara="1" rIns="91425" wrap="square" tIns="45700">
            <a:noAutofit/>
          </a:bodyPr>
          <a:lstStyle/>
          <a:p>
            <a:pPr indent="-508000" lvl="0" marL="457200" rtl="0" algn="l">
              <a:lnSpc>
                <a:spcPct val="90000"/>
              </a:lnSpc>
              <a:spcBef>
                <a:spcPts val="0"/>
              </a:spcBef>
              <a:spcAft>
                <a:spcPts val="0"/>
              </a:spcAft>
              <a:buSzPts val="4400"/>
              <a:buChar char="●"/>
            </a:pPr>
            <a:r>
              <a:rPr lang="en-HK"/>
              <a:t>Objectives:</a:t>
            </a:r>
            <a:endParaRPr/>
          </a:p>
        </p:txBody>
      </p:sp>
      <p:sp>
        <p:nvSpPr>
          <p:cNvPr id="97" name="Google Shape;97;p15"/>
          <p:cNvSpPr txBox="1"/>
          <p:nvPr>
            <p:ph idx="1" type="body"/>
          </p:nvPr>
        </p:nvSpPr>
        <p:spPr>
          <a:xfrm>
            <a:off x="0" y="753600"/>
            <a:ext cx="12192000" cy="6104400"/>
          </a:xfrm>
          <a:prstGeom prst="rect">
            <a:avLst/>
          </a:prstGeom>
          <a:noFill/>
          <a:ln>
            <a:noFill/>
          </a:ln>
        </p:spPr>
        <p:txBody>
          <a:bodyPr anchorCtr="0" anchor="ctr" bIns="45700" lIns="91425" spcFirstLastPara="1" rIns="91425" wrap="square" tIns="45700">
            <a:noAutofit/>
          </a:bodyPr>
          <a:lstStyle/>
          <a:p>
            <a:pPr indent="-406400" lvl="0" marL="914400" rtl="0" algn="l">
              <a:spcBef>
                <a:spcPts val="0"/>
              </a:spcBef>
              <a:spcAft>
                <a:spcPts val="0"/>
              </a:spcAft>
              <a:buSzPts val="2800"/>
              <a:buChar char="•"/>
            </a:pPr>
            <a:r>
              <a:rPr lang="en-HK"/>
              <a:t>The primary objective of this project was to develop an effective and user-friendly English learning platform that facilitates language acquisition through interactive content.</a:t>
            </a:r>
            <a:endParaRPr/>
          </a:p>
          <a:p>
            <a:pPr indent="-406400" lvl="0" marL="914400" rtl="0" algn="l">
              <a:spcBef>
                <a:spcPts val="0"/>
              </a:spcBef>
              <a:spcAft>
                <a:spcPts val="0"/>
              </a:spcAft>
              <a:buSzPts val="2800"/>
              <a:buChar char="•"/>
            </a:pPr>
            <a:r>
              <a:rPr lang="en-HK"/>
              <a:t>Specific goals included designing an intuitive user interface and	implementing features such as quizzes and a leaderboard to motivate users. To accommodate learners of different proficiency levels, the platform offers three difficulty modes—Easy, Medium, and Hard—allowing users to select the level that best suits their learning needs.</a:t>
            </a:r>
            <a:endParaRPr/>
          </a:p>
          <a:p>
            <a:pPr indent="-406400" lvl="0" marL="914400" rtl="0" algn="l">
              <a:spcBef>
                <a:spcPts val="0"/>
              </a:spcBef>
              <a:spcAft>
                <a:spcPts val="0"/>
              </a:spcAft>
              <a:buSzPts val="2800"/>
              <a:buChar char="•"/>
            </a:pPr>
            <a:r>
              <a:rPr lang="en-HK"/>
              <a:t>The development process primarily utilized Python as the programming language to ensure system flexibility and efficiency. </a:t>
            </a:r>
            <a:endParaRPr/>
          </a:p>
          <a:p>
            <a:pPr indent="-406400" lvl="0" marL="914400" rtl="0" algn="l">
              <a:spcBef>
                <a:spcPts val="0"/>
              </a:spcBef>
              <a:spcAft>
                <a:spcPts val="0"/>
              </a:spcAft>
              <a:buSzPts val="2800"/>
              <a:buChar char="•"/>
            </a:pPr>
            <a:r>
              <a:rPr lang="en-HK"/>
              <a:t>Overall, the project aimed to create a comprehensive tool that supports learners at various proficiency levels, encourages active participation, and helps improve English language skills.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HK"/>
              <a:t>My Goal and Expected Functions</a:t>
            </a:r>
            <a:endParaRPr/>
          </a:p>
        </p:txBody>
      </p:sp>
      <p:sp>
        <p:nvSpPr>
          <p:cNvPr id="103" name="Google Shape;103;p16"/>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50800" lvl="0" marL="228600" rtl="0" algn="l">
              <a:lnSpc>
                <a:spcPct val="90000"/>
              </a:lnSpc>
              <a:spcBef>
                <a:spcPts val="0"/>
              </a:spcBef>
              <a:spcAft>
                <a:spcPts val="0"/>
              </a:spcAft>
              <a:buClr>
                <a:schemeClr val="dk1"/>
              </a:buClr>
              <a:buSzPts val="2800"/>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HK"/>
              <a:t>System Chart (Relationship of Modules)</a:t>
            </a:r>
            <a:endParaRPr/>
          </a:p>
        </p:txBody>
      </p:sp>
      <p:sp>
        <p:nvSpPr>
          <p:cNvPr id="109" name="Google Shape;109;p1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50800" lvl="0" marL="228600" rtl="0" algn="l">
              <a:lnSpc>
                <a:spcPct val="90000"/>
              </a:lnSpc>
              <a:spcBef>
                <a:spcPts val="0"/>
              </a:spcBef>
              <a:spcAft>
                <a:spcPts val="0"/>
              </a:spcAft>
              <a:buClr>
                <a:schemeClr val="dk1"/>
              </a:buClr>
              <a:buSzPts val="2800"/>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1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HK"/>
              <a:t>Important Variables and Data Structure </a:t>
            </a:r>
            <a:endParaRPr/>
          </a:p>
        </p:txBody>
      </p:sp>
      <p:sp>
        <p:nvSpPr>
          <p:cNvPr id="115" name="Google Shape;115;p18"/>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50800" lvl="0" marL="228600" rtl="0" algn="l">
              <a:lnSpc>
                <a:spcPct val="90000"/>
              </a:lnSpc>
              <a:spcBef>
                <a:spcPts val="0"/>
              </a:spcBef>
              <a:spcAft>
                <a:spcPts val="0"/>
              </a:spcAft>
              <a:buClr>
                <a:schemeClr val="dk1"/>
              </a:buClr>
              <a:buSzPts val="2800"/>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1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HK"/>
              <a:t>Important Functions (Main Program)  </a:t>
            </a:r>
            <a:br>
              <a:rPr lang="en-HK"/>
            </a:br>
            <a:r>
              <a:rPr lang="en-HK"/>
              <a:t>(Description and Flowchart / Program Codes)</a:t>
            </a:r>
            <a:endParaRPr/>
          </a:p>
        </p:txBody>
      </p:sp>
      <p:sp>
        <p:nvSpPr>
          <p:cNvPr id="121" name="Google Shape;121;p1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50800" lvl="0" marL="228600" rtl="0" algn="l">
              <a:lnSpc>
                <a:spcPct val="90000"/>
              </a:lnSpc>
              <a:spcBef>
                <a:spcPts val="0"/>
              </a:spcBef>
              <a:spcAft>
                <a:spcPts val="0"/>
              </a:spcAft>
              <a:buClr>
                <a:schemeClr val="dk1"/>
              </a:buClr>
              <a:buSzPts val="2800"/>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HK"/>
              <a:t>Important Functions (Loading User Data)  </a:t>
            </a:r>
            <a:br>
              <a:rPr lang="en-HK"/>
            </a:br>
            <a:r>
              <a:rPr lang="en-HK"/>
              <a:t>(Description and Flowchart / Program Codes)</a:t>
            </a:r>
            <a:endParaRPr/>
          </a:p>
        </p:txBody>
      </p:sp>
      <p:sp>
        <p:nvSpPr>
          <p:cNvPr id="127" name="Google Shape;127;p20"/>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50800" lvl="0" marL="228600" rtl="0" algn="l">
              <a:lnSpc>
                <a:spcPct val="90000"/>
              </a:lnSpc>
              <a:spcBef>
                <a:spcPts val="0"/>
              </a:spcBef>
              <a:spcAft>
                <a:spcPts val="0"/>
              </a:spcAft>
              <a:buClr>
                <a:schemeClr val="dk1"/>
              </a:buClr>
              <a:buSzPts val="2800"/>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HK"/>
              <a:t>Screen Capture of Sample Program Outcomes</a:t>
            </a:r>
            <a:endParaRPr/>
          </a:p>
        </p:txBody>
      </p:sp>
      <p:sp>
        <p:nvSpPr>
          <p:cNvPr id="133" name="Google Shape;133;p2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50800" lvl="0" marL="228600" rtl="0" algn="l">
              <a:lnSpc>
                <a:spcPct val="90000"/>
              </a:lnSpc>
              <a:spcBef>
                <a:spcPts val="0"/>
              </a:spcBef>
              <a:spcAft>
                <a:spcPts val="0"/>
              </a:spcAft>
              <a:buClr>
                <a:schemeClr val="dk1"/>
              </a:buClr>
              <a:buSzPts val="2800"/>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