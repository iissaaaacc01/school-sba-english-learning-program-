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2"/>
  </p:notesMasterIdLst>
  <p:sldIdLst>
    <p:sldId id="256" r:id="rId2"/>
    <p:sldId id="258" r:id="rId3"/>
    <p:sldId id="259" r:id="rId4"/>
    <p:sldId id="265" r:id="rId5"/>
    <p:sldId id="257" r:id="rId6"/>
    <p:sldId id="260" r:id="rId7"/>
    <p:sldId id="261" r:id="rId8"/>
    <p:sldId id="262" r:id="rId9"/>
    <p:sldId id="263" r:id="rId10"/>
    <p:sldId id="264" r:id="rId11"/>
  </p:sldIdLst>
  <p:sldSz cx="12192000" cy="6858000"/>
  <p:notesSz cx="6858000" cy="9144000"/>
  <p:embeddedFontLst>
    <p:embeddedFont>
      <p:font typeface="Play" panose="020B0604020202020204" charset="0"/>
      <p:regular r:id="rId13"/>
      <p:bold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1" d="100"/>
          <a:sy n="31" d="100"/>
        </p:scale>
        <p:origin x="72" y="6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0" name="Google Shape;100;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6" name="Google Shape;106;p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8" name="Google Shape;118;p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4" name="Google Shape;124;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26" name="Google Shape;26;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5183188" y="987425"/>
            <a:ext cx="6172200" cy="4873625"/>
          </a:xfrm>
          <a:prstGeom prst="rect">
            <a:avLst/>
          </a:prstGeom>
          <a:noFill/>
          <a:ln>
            <a:noFill/>
          </a:ln>
        </p:spPr>
      </p:sp>
      <p:sp>
        <p:nvSpPr>
          <p:cNvPr id="64" name="Google Shape;64;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HK"/>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757575"/>
                </a:solidFill>
                <a:latin typeface="Arial"/>
                <a:ea typeface="Arial"/>
                <a:cs typeface="Arial"/>
                <a:sym typeface="Arial"/>
              </a:defRPr>
            </a:lvl1pPr>
            <a:lvl2pPr marL="0" marR="0" lvl="1" indent="0" algn="r" rtl="0">
              <a:spcBef>
                <a:spcPts val="0"/>
              </a:spcBef>
              <a:buNone/>
              <a:defRPr sz="1200" b="0" i="0" u="none" strike="noStrike" cap="none">
                <a:solidFill>
                  <a:srgbClr val="757575"/>
                </a:solidFill>
                <a:latin typeface="Arial"/>
                <a:ea typeface="Arial"/>
                <a:cs typeface="Arial"/>
                <a:sym typeface="Arial"/>
              </a:defRPr>
            </a:lvl2pPr>
            <a:lvl3pPr marL="0" marR="0" lvl="2" indent="0" algn="r" rtl="0">
              <a:spcBef>
                <a:spcPts val="0"/>
              </a:spcBef>
              <a:buNone/>
              <a:defRPr sz="1200" b="0" i="0" u="none" strike="noStrike" cap="none">
                <a:solidFill>
                  <a:srgbClr val="757575"/>
                </a:solidFill>
                <a:latin typeface="Arial"/>
                <a:ea typeface="Arial"/>
                <a:cs typeface="Arial"/>
                <a:sym typeface="Arial"/>
              </a:defRPr>
            </a:lvl3pPr>
            <a:lvl4pPr marL="0" marR="0" lvl="3" indent="0" algn="r" rtl="0">
              <a:spcBef>
                <a:spcPts val="0"/>
              </a:spcBef>
              <a:buNone/>
              <a:defRPr sz="1200" b="0" i="0" u="none" strike="noStrike" cap="none">
                <a:solidFill>
                  <a:srgbClr val="757575"/>
                </a:solidFill>
                <a:latin typeface="Arial"/>
                <a:ea typeface="Arial"/>
                <a:cs typeface="Arial"/>
                <a:sym typeface="Arial"/>
              </a:defRPr>
            </a:lvl4pPr>
            <a:lvl5pPr marL="0" marR="0" lvl="4" indent="0" algn="r" rtl="0">
              <a:spcBef>
                <a:spcPts val="0"/>
              </a:spcBef>
              <a:buNone/>
              <a:defRPr sz="1200" b="0" i="0" u="none" strike="noStrike" cap="none">
                <a:solidFill>
                  <a:srgbClr val="757575"/>
                </a:solidFill>
                <a:latin typeface="Arial"/>
                <a:ea typeface="Arial"/>
                <a:cs typeface="Arial"/>
                <a:sym typeface="Arial"/>
              </a:defRPr>
            </a:lvl5pPr>
            <a:lvl6pPr marL="0" marR="0" lvl="5" indent="0" algn="r" rtl="0">
              <a:spcBef>
                <a:spcPts val="0"/>
              </a:spcBef>
              <a:buNone/>
              <a:defRPr sz="1200" b="0" i="0" u="none" strike="noStrike" cap="none">
                <a:solidFill>
                  <a:srgbClr val="757575"/>
                </a:solidFill>
                <a:latin typeface="Arial"/>
                <a:ea typeface="Arial"/>
                <a:cs typeface="Arial"/>
                <a:sym typeface="Arial"/>
              </a:defRPr>
            </a:lvl6pPr>
            <a:lvl7pPr marL="0" marR="0" lvl="6" indent="0" algn="r" rtl="0">
              <a:spcBef>
                <a:spcPts val="0"/>
              </a:spcBef>
              <a:buNone/>
              <a:defRPr sz="1200" b="0" i="0" u="none" strike="noStrike" cap="none">
                <a:solidFill>
                  <a:srgbClr val="757575"/>
                </a:solidFill>
                <a:latin typeface="Arial"/>
                <a:ea typeface="Arial"/>
                <a:cs typeface="Arial"/>
                <a:sym typeface="Arial"/>
              </a:defRPr>
            </a:lvl7pPr>
            <a:lvl8pPr marL="0" marR="0" lvl="7" indent="0" algn="r" rtl="0">
              <a:spcBef>
                <a:spcPts val="0"/>
              </a:spcBef>
              <a:buNone/>
              <a:defRPr sz="1200" b="0" i="0" u="none" strike="noStrike" cap="none">
                <a:solidFill>
                  <a:srgbClr val="757575"/>
                </a:solidFill>
                <a:latin typeface="Arial"/>
                <a:ea typeface="Arial"/>
                <a:cs typeface="Arial"/>
                <a:sym typeface="Arial"/>
              </a:defRPr>
            </a:lvl8pPr>
            <a:lvl9pPr marL="0" marR="0" lvl="8" indent="0" algn="r" rtl="0">
              <a:spcBef>
                <a:spcPts val="0"/>
              </a:spcBef>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HK"/>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txBox="1">
            <a:spLocks noGrp="1"/>
          </p:cNvSpPr>
          <p:nvPr>
            <p:ph type="ctrTitle"/>
          </p:nvPr>
        </p:nvSpPr>
        <p:spPr>
          <a:xfrm>
            <a:off x="3100050" y="2570100"/>
            <a:ext cx="5991900" cy="858900"/>
          </a:xfrm>
          <a:prstGeom prst="rect">
            <a:avLst/>
          </a:prstGeom>
          <a:noFill/>
          <a:ln>
            <a:noFill/>
          </a:ln>
        </p:spPr>
        <p:txBody>
          <a:bodyPr spcFirstLastPara="1" wrap="square" lIns="84350" tIns="42150" rIns="84350" bIns="42150" anchor="b" anchorCtr="0">
            <a:normAutofit/>
          </a:bodyPr>
          <a:lstStyle/>
          <a:p>
            <a:pPr marL="0" lvl="0" indent="0" algn="ctr" rtl="0">
              <a:lnSpc>
                <a:spcPct val="90000"/>
              </a:lnSpc>
              <a:spcBef>
                <a:spcPts val="0"/>
              </a:spcBef>
              <a:spcAft>
                <a:spcPts val="0"/>
              </a:spcAft>
              <a:buClr>
                <a:schemeClr val="dk1"/>
              </a:buClr>
              <a:buSzPts val="5535"/>
              <a:buFont typeface="Play"/>
              <a:buNone/>
            </a:pPr>
            <a:r>
              <a:rPr lang="en-HK" sz="5535"/>
              <a:t>My SBA Report</a:t>
            </a:r>
            <a:endParaRPr sz="5535"/>
          </a:p>
        </p:txBody>
      </p:sp>
      <p:sp>
        <p:nvSpPr>
          <p:cNvPr id="85" name="Google Shape;85;p13"/>
          <p:cNvSpPr txBox="1">
            <a:spLocks noGrp="1"/>
          </p:cNvSpPr>
          <p:nvPr>
            <p:ph type="subTitle" idx="1"/>
          </p:nvPr>
        </p:nvSpPr>
        <p:spPr>
          <a:xfrm>
            <a:off x="3665700" y="3429006"/>
            <a:ext cx="4860600" cy="858900"/>
          </a:xfrm>
          <a:prstGeom prst="rect">
            <a:avLst/>
          </a:prstGeom>
          <a:noFill/>
          <a:ln>
            <a:noFill/>
          </a:ln>
        </p:spPr>
        <p:txBody>
          <a:bodyPr spcFirstLastPara="1" wrap="square" lIns="84350" tIns="42150" rIns="84350" bIns="42150" anchor="b" anchorCtr="0">
            <a:normAutofit/>
          </a:bodyPr>
          <a:lstStyle/>
          <a:p>
            <a:pPr marL="0" lvl="0" indent="0" algn="ctr" rtl="0">
              <a:lnSpc>
                <a:spcPct val="90000"/>
              </a:lnSpc>
              <a:spcBef>
                <a:spcPts val="0"/>
              </a:spcBef>
              <a:spcAft>
                <a:spcPts val="0"/>
              </a:spcAft>
              <a:buClr>
                <a:schemeClr val="dk1"/>
              </a:buClr>
              <a:buSzPts val="2214"/>
              <a:buNone/>
            </a:pPr>
            <a:r>
              <a:rPr lang="en-HK" sz="2214"/>
              <a:t>English Learning Platform</a:t>
            </a:r>
            <a:endParaRPr sz="2214"/>
          </a:p>
          <a:p>
            <a:pPr marL="0" lvl="0" indent="0" algn="ctr" rtl="0">
              <a:lnSpc>
                <a:spcPct val="90000"/>
              </a:lnSpc>
              <a:spcBef>
                <a:spcPts val="923"/>
              </a:spcBef>
              <a:spcAft>
                <a:spcPts val="0"/>
              </a:spcAft>
              <a:buClr>
                <a:schemeClr val="dk1"/>
              </a:buClr>
              <a:buSzPts val="2214"/>
              <a:buNone/>
            </a:pPr>
            <a:r>
              <a:rPr lang="en-HK" sz="2214"/>
              <a:t>6xxx Tong Chi Ching Isaac</a:t>
            </a:r>
            <a:endParaRPr sz="2214"/>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5"/>
          <p:cNvSpPr txBox="1">
            <a:spLocks noGrp="1"/>
          </p:cNvSpPr>
          <p:nvPr>
            <p:ph type="title"/>
          </p:nvPr>
        </p:nvSpPr>
        <p:spPr>
          <a:xfrm>
            <a:off x="0" y="0"/>
            <a:ext cx="12192000" cy="753600"/>
          </a:xfrm>
          <a:prstGeom prst="rect">
            <a:avLst/>
          </a:prstGeom>
          <a:noFill/>
          <a:ln>
            <a:noFill/>
          </a:ln>
        </p:spPr>
        <p:txBody>
          <a:bodyPr spcFirstLastPara="1" wrap="square" lIns="91425" tIns="45700" rIns="91425" bIns="45700" anchor="ctr" anchorCtr="0">
            <a:noAutofit/>
          </a:bodyPr>
          <a:lstStyle/>
          <a:p>
            <a:pPr marL="457200" lvl="0" indent="-508000" algn="l" rtl="0">
              <a:lnSpc>
                <a:spcPct val="90000"/>
              </a:lnSpc>
              <a:spcBef>
                <a:spcPts val="0"/>
              </a:spcBef>
              <a:spcAft>
                <a:spcPts val="0"/>
              </a:spcAft>
              <a:buSzPts val="4400"/>
              <a:buChar char="●"/>
            </a:pPr>
            <a:r>
              <a:rPr lang="en-HK"/>
              <a:t>Objectives:</a:t>
            </a:r>
            <a:endParaRPr/>
          </a:p>
        </p:txBody>
      </p:sp>
      <p:sp>
        <p:nvSpPr>
          <p:cNvPr id="97" name="Google Shape;97;p15"/>
          <p:cNvSpPr txBox="1">
            <a:spLocks noGrp="1"/>
          </p:cNvSpPr>
          <p:nvPr>
            <p:ph type="body" idx="1"/>
          </p:nvPr>
        </p:nvSpPr>
        <p:spPr>
          <a:xfrm>
            <a:off x="0" y="753600"/>
            <a:ext cx="12192000" cy="6104400"/>
          </a:xfrm>
          <a:prstGeom prst="rect">
            <a:avLst/>
          </a:prstGeom>
          <a:noFill/>
          <a:ln>
            <a:noFill/>
          </a:ln>
        </p:spPr>
        <p:txBody>
          <a:bodyPr spcFirstLastPara="1" wrap="square" lIns="91425" tIns="45700" rIns="91425" bIns="45700" anchor="ctr" anchorCtr="0">
            <a:noAutofit/>
          </a:bodyPr>
          <a:lstStyle/>
          <a:p>
            <a:pPr marL="914400" lvl="0" indent="-406400" algn="l" rtl="0">
              <a:spcBef>
                <a:spcPts val="0"/>
              </a:spcBef>
              <a:spcAft>
                <a:spcPts val="0"/>
              </a:spcAft>
              <a:buSzPts val="2800"/>
              <a:buChar char="•"/>
            </a:pPr>
            <a:r>
              <a:rPr lang="en-US" b="1" dirty="0"/>
              <a:t>Primary Goal</a:t>
            </a:r>
            <a:r>
              <a:rPr lang="en-US" dirty="0"/>
              <a:t>: Develop an effective, user-friendly English learning platform with interactive content.</a:t>
            </a:r>
          </a:p>
          <a:p>
            <a:pPr marL="914400" lvl="0" indent="-406400" algn="l" rtl="0">
              <a:spcBef>
                <a:spcPts val="0"/>
              </a:spcBef>
              <a:spcAft>
                <a:spcPts val="0"/>
              </a:spcAft>
              <a:buSzPts val="2800"/>
              <a:buChar char="•"/>
            </a:pPr>
            <a:endParaRPr lang="en-US" b="1" dirty="0"/>
          </a:p>
          <a:p>
            <a:pPr marL="914400" lvl="0" indent="-406400" algn="l" rtl="0">
              <a:spcBef>
                <a:spcPts val="0"/>
              </a:spcBef>
              <a:spcAft>
                <a:spcPts val="0"/>
              </a:spcAft>
              <a:buSzPts val="2800"/>
              <a:buChar char="•"/>
            </a:pPr>
            <a:r>
              <a:rPr lang="en-US" b="1" dirty="0"/>
              <a:t>Engagement</a:t>
            </a:r>
            <a:r>
              <a:rPr lang="en-US" dirty="0"/>
              <a:t>: Feature an intuitive UI to boost user motivation.</a:t>
            </a:r>
          </a:p>
          <a:p>
            <a:pPr marL="914400" lvl="0" indent="-406400" algn="l" rtl="0">
              <a:spcBef>
                <a:spcPts val="0"/>
              </a:spcBef>
              <a:spcAft>
                <a:spcPts val="0"/>
              </a:spcAft>
              <a:buSzPts val="2800"/>
              <a:buChar char="•"/>
            </a:pPr>
            <a:endParaRPr lang="en-US" b="1" dirty="0"/>
          </a:p>
          <a:p>
            <a:pPr marL="914400" lvl="0" indent="-406400" algn="l" rtl="0">
              <a:spcBef>
                <a:spcPts val="0"/>
              </a:spcBef>
              <a:spcAft>
                <a:spcPts val="0"/>
              </a:spcAft>
              <a:buSzPts val="2800"/>
              <a:buChar char="•"/>
            </a:pPr>
            <a:r>
              <a:rPr lang="en-US" b="1" dirty="0"/>
              <a:t>Flexibility</a:t>
            </a:r>
            <a:r>
              <a:rPr lang="en-US" dirty="0"/>
              <a:t>: Offer three difficulty modes tailored to different proficiency levels</a:t>
            </a:r>
            <a:r>
              <a:rPr lang="en-HK" dirty="0"/>
              <a:t>.</a:t>
            </a:r>
            <a:endParaRPr dirty="0"/>
          </a:p>
          <a:p>
            <a:pPr marL="914400" lvl="0" indent="-406400" algn="l" rtl="0">
              <a:spcBef>
                <a:spcPts val="0"/>
              </a:spcBef>
              <a:spcAft>
                <a:spcPts val="0"/>
              </a:spcAft>
              <a:buSzPts val="2800"/>
              <a:buChar char="•"/>
            </a:pPr>
            <a:endParaRPr lang="en-HK" dirty="0"/>
          </a:p>
          <a:p>
            <a:pPr marL="914400" lvl="0" indent="-406400" algn="l" rtl="0">
              <a:spcBef>
                <a:spcPts val="0"/>
              </a:spcBef>
              <a:spcAft>
                <a:spcPts val="0"/>
              </a:spcAft>
              <a:buSzPts val="2800"/>
              <a:buChar char="•"/>
            </a:pPr>
            <a:r>
              <a:rPr lang="en-US" b="1" dirty="0"/>
              <a:t>Tech Stack</a:t>
            </a:r>
            <a:r>
              <a:rPr lang="en-US" dirty="0"/>
              <a:t>: Built with Python to ensure system flexibility and efficiency.</a:t>
            </a:r>
          </a:p>
          <a:p>
            <a:pPr marL="914400" lvl="0" indent="-406400" algn="l" rtl="0">
              <a:spcBef>
                <a:spcPts val="0"/>
              </a:spcBef>
              <a:spcAft>
                <a:spcPts val="0"/>
              </a:spcAft>
              <a:buSzPts val="2800"/>
              <a:buChar char="•"/>
            </a:pPr>
            <a:endParaRPr lang="en-US" dirty="0"/>
          </a:p>
          <a:p>
            <a:pPr marL="914400" lvl="0" indent="-406400" algn="l" rtl="0">
              <a:spcBef>
                <a:spcPts val="0"/>
              </a:spcBef>
              <a:spcAft>
                <a:spcPts val="0"/>
              </a:spcAft>
              <a:buSzPts val="2800"/>
              <a:buChar char="•"/>
            </a:pPr>
            <a:r>
              <a:rPr lang="en-HK" b="1" dirty="0"/>
              <a:t>Impact</a:t>
            </a:r>
            <a:r>
              <a:rPr lang="en-HK" dirty="0"/>
              <a:t>: Support diverse learners, encourage active participation, and enhance language skills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571500" lvl="0" indent="-571500" algn="l" rtl="0">
              <a:lnSpc>
                <a:spcPct val="90000"/>
              </a:lnSpc>
              <a:spcBef>
                <a:spcPts val="0"/>
              </a:spcBef>
              <a:spcAft>
                <a:spcPts val="0"/>
              </a:spcAft>
              <a:buClr>
                <a:schemeClr val="dk1"/>
              </a:buClr>
              <a:buSzPts val="4400"/>
              <a:buFont typeface="Arial" panose="020B0604020202020204" pitchFamily="34" charset="0"/>
              <a:buChar char="•"/>
            </a:pPr>
            <a:r>
              <a:rPr lang="en-HK" dirty="0"/>
              <a:t>My Goal</a:t>
            </a:r>
            <a:endParaRPr dirty="0"/>
          </a:p>
        </p:txBody>
      </p:sp>
      <p:sp>
        <p:nvSpPr>
          <p:cNvPr id="103" name="Google Shape;103;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635000" indent="-457200">
              <a:spcBef>
                <a:spcPts val="0"/>
              </a:spcBef>
              <a:buSzPts val="2800"/>
            </a:pPr>
            <a:r>
              <a:rPr lang="en-US" b="1" dirty="0"/>
              <a:t>By doing this project I wish to</a:t>
            </a:r>
            <a:r>
              <a:rPr lang="en-US" dirty="0"/>
              <a:t>:</a:t>
            </a:r>
          </a:p>
          <a:p>
            <a:pPr marL="1092200" lvl="1" indent="-457200">
              <a:spcBef>
                <a:spcPts val="0"/>
              </a:spcBef>
              <a:buSzPts val="2800"/>
            </a:pPr>
            <a:endParaRPr lang="en-US" dirty="0"/>
          </a:p>
          <a:p>
            <a:pPr marL="1092200" lvl="1" indent="-457200">
              <a:spcBef>
                <a:spcPts val="0"/>
              </a:spcBef>
              <a:buSzPts val="2800"/>
            </a:pPr>
            <a:r>
              <a:rPr lang="en-US" dirty="0"/>
              <a:t>further improve my own programming skill</a:t>
            </a:r>
          </a:p>
          <a:p>
            <a:pPr marL="1092200" lvl="1" indent="-457200">
              <a:spcBef>
                <a:spcPts val="0"/>
              </a:spcBef>
              <a:buSzPts val="2800"/>
            </a:pPr>
            <a:endParaRPr lang="en-US" dirty="0"/>
          </a:p>
          <a:p>
            <a:pPr marL="1092200" lvl="1" indent="-457200">
              <a:spcBef>
                <a:spcPts val="0"/>
              </a:spcBef>
              <a:buSzPts val="2800"/>
            </a:pPr>
            <a:r>
              <a:rPr lang="en-US" dirty="0"/>
              <a:t>Increase my English vocabulary</a:t>
            </a:r>
          </a:p>
          <a:p>
            <a:pPr marL="1092200" lvl="1" indent="-457200">
              <a:spcBef>
                <a:spcPts val="0"/>
              </a:spcBef>
              <a:buSzPts val="2800"/>
            </a:pPr>
            <a:endParaRPr lang="en-US" dirty="0"/>
          </a:p>
          <a:p>
            <a:pPr marL="1092200" lvl="1" indent="-457200">
              <a:spcBef>
                <a:spcPts val="0"/>
              </a:spcBef>
              <a:buSzPts val="2800"/>
            </a:pPr>
            <a:r>
              <a:rPr lang="en-US" dirty="0"/>
              <a:t>Help other people who’s English level are low</a:t>
            </a:r>
          </a:p>
          <a:p>
            <a:pPr marL="1092200" lvl="1" indent="-457200">
              <a:spcBef>
                <a:spcPts val="0"/>
              </a:spcBef>
              <a:buSzPts val="2800"/>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B09F3-F4F9-3CF0-305D-6AD49F098A40}"/>
              </a:ext>
            </a:extLst>
          </p:cNvPr>
          <p:cNvSpPr>
            <a:spLocks noGrp="1"/>
          </p:cNvSpPr>
          <p:nvPr>
            <p:ph type="title"/>
          </p:nvPr>
        </p:nvSpPr>
        <p:spPr/>
        <p:txBody>
          <a:bodyPr/>
          <a:lstStyle/>
          <a:p>
            <a:pPr marL="571500" indent="-571500">
              <a:buFont typeface="Arial" panose="020B0604020202020204" pitchFamily="34" charset="0"/>
              <a:buChar char="•"/>
            </a:pPr>
            <a:r>
              <a:rPr lang="en-HK" dirty="0"/>
              <a:t>My Function</a:t>
            </a:r>
          </a:p>
        </p:txBody>
      </p:sp>
      <p:sp>
        <p:nvSpPr>
          <p:cNvPr id="3" name="Text Placeholder 2">
            <a:extLst>
              <a:ext uri="{FF2B5EF4-FFF2-40B4-BE49-F238E27FC236}">
                <a16:creationId xmlns:a16="http://schemas.microsoft.com/office/drawing/2014/main" id="{4F4E43E8-CEA9-66A6-EE91-8D1C520424C5}"/>
              </a:ext>
            </a:extLst>
          </p:cNvPr>
          <p:cNvSpPr>
            <a:spLocks noGrp="1"/>
          </p:cNvSpPr>
          <p:nvPr>
            <p:ph type="body" idx="1"/>
          </p:nvPr>
        </p:nvSpPr>
        <p:spPr/>
        <p:txBody>
          <a:bodyPr/>
          <a:lstStyle/>
          <a:p>
            <a:r>
              <a:rPr lang="en-US" dirty="0"/>
              <a:t>login</a:t>
            </a:r>
          </a:p>
          <a:p>
            <a:r>
              <a:rPr lang="en-US" dirty="0"/>
              <a:t>Dashboard</a:t>
            </a:r>
          </a:p>
          <a:p>
            <a:r>
              <a:rPr lang="en-US" dirty="0"/>
              <a:t>Change </a:t>
            </a:r>
            <a:r>
              <a:rPr lang="en-US" dirty="0" err="1"/>
              <a:t>ui</a:t>
            </a:r>
            <a:r>
              <a:rPr lang="en-US" dirty="0"/>
              <a:t> theme</a:t>
            </a:r>
          </a:p>
          <a:p>
            <a:r>
              <a:rPr lang="en-US" dirty="0"/>
              <a:t>Play Games</a:t>
            </a:r>
          </a:p>
          <a:p>
            <a:r>
              <a:rPr lang="en-US" dirty="0"/>
              <a:t>Leaderboard</a:t>
            </a:r>
          </a:p>
          <a:p>
            <a:r>
              <a:rPr lang="en-US"/>
              <a:t>Profile change</a:t>
            </a:r>
            <a:endParaRPr lang="en-US" dirty="0"/>
          </a:p>
          <a:p>
            <a:endParaRPr lang="en-US" dirty="0"/>
          </a:p>
          <a:p>
            <a:endParaRPr lang="en-HK" dirty="0"/>
          </a:p>
        </p:txBody>
      </p:sp>
    </p:spTree>
    <p:extLst>
      <p:ext uri="{BB962C8B-B14F-4D97-AF65-F5344CB8AC3E}">
        <p14:creationId xmlns:p14="http://schemas.microsoft.com/office/powerpoint/2010/main" val="12942604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4"/>
          <p:cNvSpPr txBox="1">
            <a:spLocks noGrp="1"/>
          </p:cNvSpPr>
          <p:nvPr>
            <p:ph type="title"/>
          </p:nvPr>
        </p:nvSpPr>
        <p:spPr>
          <a:xfrm>
            <a:off x="0" y="794100"/>
            <a:ext cx="12192000" cy="6063900"/>
          </a:xfrm>
          <a:prstGeom prst="rect">
            <a:avLst/>
          </a:prstGeom>
          <a:noFill/>
          <a:ln>
            <a:noFill/>
          </a:ln>
        </p:spPr>
        <p:txBody>
          <a:bodyPr spcFirstLastPara="1" wrap="square" lIns="91425" tIns="45700" rIns="91425" bIns="45700" anchor="ctr" anchorCtr="0">
            <a:normAutofit/>
          </a:bodyPr>
          <a:lstStyle/>
          <a:p>
            <a:pPr marL="914400" lvl="0" indent="-406400" algn="l" rtl="0">
              <a:lnSpc>
                <a:spcPct val="100000"/>
              </a:lnSpc>
              <a:spcBef>
                <a:spcPts val="0"/>
              </a:spcBef>
              <a:spcAft>
                <a:spcPts val="0"/>
              </a:spcAft>
              <a:buSzPts val="2800"/>
              <a:buFont typeface="Arial"/>
              <a:buChar char="●"/>
            </a:pPr>
            <a:r>
              <a:rPr lang="en-HK" sz="2800" dirty="0">
                <a:latin typeface="Arial"/>
                <a:ea typeface="Arial"/>
                <a:cs typeface="Arial"/>
                <a:sym typeface="Arial"/>
              </a:rPr>
              <a:t>The design phase involved creating a comprehensive</a:t>
            </a:r>
            <a:r>
              <a:rPr lang="en-HK" sz="2800" b="1" dirty="0">
                <a:latin typeface="Arial"/>
                <a:ea typeface="Arial"/>
                <a:cs typeface="Arial"/>
                <a:sym typeface="Arial"/>
              </a:rPr>
              <a:t> </a:t>
            </a:r>
            <a:r>
              <a:rPr lang="en-HK" sz="2800" dirty="0">
                <a:latin typeface="Arial"/>
                <a:ea typeface="Arial"/>
                <a:cs typeface="Arial"/>
                <a:sym typeface="Arial"/>
              </a:rPr>
              <a:t>blueprint for the English learning platform, focusing on </a:t>
            </a:r>
            <a:r>
              <a:rPr lang="en-HK" sz="2800" b="1" dirty="0">
                <a:latin typeface="Arial"/>
                <a:ea typeface="Arial"/>
                <a:cs typeface="Arial"/>
                <a:sym typeface="Arial"/>
              </a:rPr>
              <a:t>user interface, system architecture</a:t>
            </a:r>
            <a:r>
              <a:rPr lang="en-HK" sz="2800" dirty="0">
                <a:latin typeface="Arial"/>
                <a:ea typeface="Arial"/>
                <a:cs typeface="Arial"/>
                <a:sym typeface="Arial"/>
              </a:rPr>
              <a:t>, and </a:t>
            </a:r>
            <a:r>
              <a:rPr lang="en-HK" sz="2800" b="1" dirty="0">
                <a:latin typeface="Arial"/>
                <a:ea typeface="Arial"/>
                <a:cs typeface="Arial"/>
                <a:sym typeface="Arial"/>
              </a:rPr>
              <a:t>core functionalities</a:t>
            </a:r>
            <a:r>
              <a:rPr lang="en-HK" sz="2800" dirty="0">
                <a:latin typeface="Arial"/>
                <a:ea typeface="Arial"/>
                <a:cs typeface="Arial"/>
                <a:sym typeface="Arial"/>
              </a:rPr>
              <a:t>. Thus I focus on</a:t>
            </a:r>
            <a:r>
              <a:rPr lang="en-HK" sz="2800" b="1" dirty="0">
                <a:latin typeface="Arial"/>
                <a:ea typeface="Arial"/>
                <a:cs typeface="Arial"/>
                <a:sym typeface="Arial"/>
              </a:rPr>
              <a:t> a very user friendly interface</a:t>
            </a:r>
            <a:r>
              <a:rPr lang="en-HK" sz="2800" dirty="0">
                <a:latin typeface="Arial"/>
                <a:ea typeface="Arial"/>
                <a:cs typeface="Arial"/>
                <a:sym typeface="Arial"/>
              </a:rPr>
              <a:t> for the user to use.</a:t>
            </a:r>
            <a:endParaRPr sz="2800" dirty="0">
              <a:latin typeface="Arial"/>
              <a:ea typeface="Arial"/>
              <a:cs typeface="Arial"/>
              <a:sym typeface="Arial"/>
            </a:endParaRPr>
          </a:p>
          <a:p>
            <a:pPr marL="0" lvl="0" indent="0" algn="l" rtl="0">
              <a:lnSpc>
                <a:spcPct val="100000"/>
              </a:lnSpc>
              <a:spcBef>
                <a:spcPts val="0"/>
              </a:spcBef>
              <a:spcAft>
                <a:spcPts val="0"/>
              </a:spcAft>
              <a:buNone/>
            </a:pPr>
            <a:endParaRPr sz="2800" dirty="0">
              <a:latin typeface="Arial"/>
              <a:ea typeface="Arial"/>
              <a:cs typeface="Arial"/>
              <a:sym typeface="Arial"/>
            </a:endParaRPr>
          </a:p>
          <a:p>
            <a:pPr marL="914400" lvl="0" indent="-406400" algn="l" rtl="0">
              <a:lnSpc>
                <a:spcPct val="100000"/>
              </a:lnSpc>
              <a:spcBef>
                <a:spcPts val="0"/>
              </a:spcBef>
              <a:spcAft>
                <a:spcPts val="0"/>
              </a:spcAft>
              <a:buSzPts val="2800"/>
              <a:buFont typeface="Arial"/>
              <a:buChar char="●"/>
            </a:pPr>
            <a:r>
              <a:rPr lang="en-HK" sz="2800" dirty="0">
                <a:latin typeface="Arial"/>
                <a:ea typeface="Arial"/>
                <a:cs typeface="Arial"/>
                <a:sym typeface="Arial"/>
              </a:rPr>
              <a:t>During the implementation phase, the design was translated into a functional system through coding and software development. This included developing the frontend interface, setting up </a:t>
            </a:r>
            <a:r>
              <a:rPr lang="en-HK" sz="2800" b="1" dirty="0">
                <a:latin typeface="Arial"/>
                <a:ea typeface="Arial"/>
                <a:cs typeface="Arial"/>
                <a:sym typeface="Arial"/>
              </a:rPr>
              <a:t>backend coding, adding databases, and ensuring smooth operation </a:t>
            </a:r>
            <a:r>
              <a:rPr lang="en-HK" sz="2800" dirty="0">
                <a:latin typeface="Arial"/>
                <a:ea typeface="Arial"/>
                <a:cs typeface="Arial"/>
                <a:sym typeface="Arial"/>
              </a:rPr>
              <a:t>across different devices. Rigorous testing was conducted throughout the implementation process to identify and resolve any issues, resulting in user-friendly learning platform that meets the specified requirements.</a:t>
            </a:r>
            <a:endParaRPr sz="2800" dirty="0">
              <a:latin typeface="Arial"/>
              <a:ea typeface="Arial"/>
              <a:cs typeface="Arial"/>
              <a:sym typeface="Arial"/>
            </a:endParaRPr>
          </a:p>
        </p:txBody>
      </p:sp>
      <p:sp>
        <p:nvSpPr>
          <p:cNvPr id="91" name="Google Shape;91;p14"/>
          <p:cNvSpPr txBox="1"/>
          <p:nvPr/>
        </p:nvSpPr>
        <p:spPr>
          <a:xfrm>
            <a:off x="0" y="0"/>
            <a:ext cx="11645400" cy="794100"/>
          </a:xfrm>
          <a:prstGeom prst="rect">
            <a:avLst/>
          </a:prstGeom>
          <a:noFill/>
          <a:ln>
            <a:noFill/>
          </a:ln>
        </p:spPr>
        <p:txBody>
          <a:bodyPr spcFirstLastPara="1" wrap="square" lIns="91425" tIns="91425" rIns="91425" bIns="91425" anchor="t" anchorCtr="0">
            <a:spAutoFit/>
          </a:bodyPr>
          <a:lstStyle/>
          <a:p>
            <a:pPr marL="457200" lvl="0" indent="-508000" algn="l" rtl="0">
              <a:lnSpc>
                <a:spcPct val="90000"/>
              </a:lnSpc>
              <a:spcBef>
                <a:spcPts val="0"/>
              </a:spcBef>
              <a:spcAft>
                <a:spcPts val="0"/>
              </a:spcAft>
              <a:buClr>
                <a:schemeClr val="dk1"/>
              </a:buClr>
              <a:buSzPts val="4400"/>
              <a:buFont typeface="Play"/>
              <a:buChar char="●"/>
            </a:pPr>
            <a:r>
              <a:rPr lang="en-HK" sz="4400">
                <a:solidFill>
                  <a:schemeClr val="dk1"/>
                </a:solidFill>
                <a:latin typeface="Play"/>
                <a:ea typeface="Play"/>
                <a:cs typeface="Play"/>
                <a:sym typeface="Play"/>
              </a:rPr>
              <a:t>Design and Implementation:</a:t>
            </a:r>
            <a:endParaRPr sz="28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HK"/>
              <a:t>System Chart (Relationship of Modules)</a:t>
            </a:r>
            <a:endParaRPr/>
          </a:p>
        </p:txBody>
      </p:sp>
      <p:sp>
        <p:nvSpPr>
          <p:cNvPr id="109" name="Google Shape;109;p1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HK"/>
              <a:t>Important Variables and Data Structure </a:t>
            </a:r>
            <a:endParaRPr/>
          </a:p>
        </p:txBody>
      </p:sp>
      <p:sp>
        <p:nvSpPr>
          <p:cNvPr id="115" name="Google Shape;115;p1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HK"/>
              <a:t>Important Functions (Main Program)  </a:t>
            </a:r>
            <a:br>
              <a:rPr lang="en-HK"/>
            </a:br>
            <a:r>
              <a:rPr lang="en-HK"/>
              <a:t>(Description and Flowchart / Program Codes)</a:t>
            </a:r>
            <a:endParaRPr/>
          </a:p>
        </p:txBody>
      </p:sp>
      <p:sp>
        <p:nvSpPr>
          <p:cNvPr id="121" name="Google Shape;121;p1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HK"/>
              <a:t>Important Functions (Loading User Data)  </a:t>
            </a:r>
            <a:br>
              <a:rPr lang="en-HK"/>
            </a:br>
            <a:r>
              <a:rPr lang="en-HK"/>
              <a:t>(Description and Flowchart / Program Codes)</a:t>
            </a:r>
            <a:endParaRPr/>
          </a:p>
        </p:txBody>
      </p:sp>
      <p:sp>
        <p:nvSpPr>
          <p:cNvPr id="127" name="Google Shape;127;p2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HK"/>
              <a:t>Screen Capture of Sample Program Outcomes</a:t>
            </a:r>
            <a:endParaRPr/>
          </a:p>
        </p:txBody>
      </p:sp>
      <p:sp>
        <p:nvSpPr>
          <p:cNvPr id="133" name="Google Shape;133;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280</Words>
  <Application>Microsoft Office PowerPoint</Application>
  <PresentationFormat>Widescreen</PresentationFormat>
  <Paragraphs>37</Paragraphs>
  <Slides>10</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Play</vt:lpstr>
      <vt:lpstr>Office Theme</vt:lpstr>
      <vt:lpstr>My SBA Report</vt:lpstr>
      <vt:lpstr>Objectives:</vt:lpstr>
      <vt:lpstr>My Goal</vt:lpstr>
      <vt:lpstr>My Function</vt:lpstr>
      <vt:lpstr>The design phase involved creating a comprehensive blueprint for the English learning platform, focusing on user interface, system architecture, and core functionalities. Thus I focus on a very user friendly interface for the user to use.  During the implementation phase, the design was translated into a functional system through coding and software development. This included developing the frontend interface, setting up backend coding, adding databases, and ensuring smooth operation across different devices. Rigorous testing was conducted throughout the implementation process to identify and resolve any issues, resulting in user-friendly learning platform that meets the specified requirements.</vt:lpstr>
      <vt:lpstr>System Chart (Relationship of Modules)</vt:lpstr>
      <vt:lpstr>Important Variables and Data Structure </vt:lpstr>
      <vt:lpstr>Important Functions (Main Program)   (Description and Flowchart / Program Codes)</vt:lpstr>
      <vt:lpstr>Important Functions (Loading User Data)   (Description and Flowchart / Program Codes)</vt:lpstr>
      <vt:lpstr>Screen Capture of Sample Program Outcomes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User</cp:lastModifiedBy>
  <cp:revision>1</cp:revision>
  <dcterms:modified xsi:type="dcterms:W3CDTF">2026-09-28T06:55:25Z</dcterms:modified>
</cp:coreProperties>
</file>